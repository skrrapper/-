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7" r:id="rId8"/>
    <p:sldId id="260" r:id="rId9"/>
    <p:sldId id="276" r:id="rId10"/>
    <p:sldId id="278" r:id="rId11"/>
    <p:sldId id="279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/>
  <p:notesSz cx="6858000" cy="12192000"/>
  <p:embeddedFontLs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  <p:embeddedFont>
      <p:font typeface="等线" panose="02010600030101010101" charset="-122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E36321EA-22F4-460D-A0B7-74097E2E30CF}">
          <p14:sldIdLst>
            <p14:sldId id="256"/>
            <p14:sldId id="257"/>
            <p14:sldId id="258"/>
            <p14:sldId id="259"/>
            <p14:sldId id="277"/>
            <p14:sldId id="260"/>
            <p14:sldId id="276"/>
            <p14:sldId id="278"/>
            <p14:sldId id="27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9.png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连铭涛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15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汇报日期：2025/10/17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6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0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青言速递多端界面全景秀</a:t>
            </a:r>
            <a:endParaRPr lang="en-US" sz="1600" dirty="0"/>
          </a:p>
        </p:txBody>
      </p:sp>
      <p:pic>
        <p:nvPicPr>
          <p:cNvPr id="15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7219950" y="3694338"/>
            <a:ext cx="4345305" cy="42261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组长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黄丹丹</a:t>
            </a: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组员：胡洪源，杨旭辉，连铭涛，陈鑫，</a:t>
            </a: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     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冯慕琛，江周霖，胡博潇</a:t>
            </a:r>
            <a:endParaRPr lang="en-US" alt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l">
              <a:lnSpc>
                <a:spcPct val="90000"/>
              </a:lnSpc>
              <a:buNone/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5210" y="2010410"/>
            <a:ext cx="2663190" cy="438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4485" y="5488305"/>
            <a:ext cx="2170430" cy="5689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604932" y="88045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4747895" y="93455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654675" y="1117846"/>
            <a:ext cx="601345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设计缘起与目标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747260" y="240093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655310" y="2599055"/>
            <a:ext cx="60140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移动端核心界面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747260" y="320738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5655310" y="3385820"/>
            <a:ext cx="601408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响应式Web界面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747260" y="401447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655310" y="4184015"/>
            <a:ext cx="601472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技术实现与优化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747260" y="479171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655310" y="4989830"/>
            <a:ext cx="6012815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迭代规划与展望</a:t>
            </a:r>
            <a:endParaRPr lang="en-US" sz="1600" dirty="0"/>
          </a:p>
        </p:txBody>
      </p:sp>
      <p:sp>
        <p:nvSpPr>
          <p:cNvPr id="28" name="Text 11"/>
          <p:cNvSpPr/>
          <p:nvPr/>
        </p:nvSpPr>
        <p:spPr>
          <a:xfrm>
            <a:off x="4739186" y="162814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29" name="Text 12"/>
          <p:cNvSpPr/>
          <p:nvPr/>
        </p:nvSpPr>
        <p:spPr>
          <a:xfrm>
            <a:off x="5657396" y="1852396"/>
            <a:ext cx="6013450" cy="311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总体架构与分层设计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设计缘起与目标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" y="0"/>
            <a:ext cx="12192000" cy="297307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1904365" y="1858010"/>
            <a:ext cx="779145" cy="79057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5682615" y="2307590"/>
            <a:ext cx="779145" cy="790575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763" t="-40" r="763" b="40"/>
          <a:stretch>
            <a:fillRect/>
          </a:stretch>
        </p:blipFill>
        <p:spPr>
          <a:xfrm>
            <a:off x="9499600" y="1881505"/>
            <a:ext cx="779145" cy="7905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校园通知痛点驱动界面革新</a:t>
            </a:r>
            <a:endParaRPr lang="en-US" sz="1600" dirty="0"/>
          </a:p>
        </p:txBody>
      </p:sp>
      <p:sp>
        <p:nvSpPr>
          <p:cNvPr id="7" name="Text 1"/>
          <p:cNvSpPr/>
          <p:nvPr/>
        </p:nvSpPr>
        <p:spPr>
          <a:xfrm>
            <a:off x="1948180" y="200787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866775" y="283019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传统通知方式的弊端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866775" y="354393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微信群消息碎片化，重要通知易被淹没；纸质公告更新滞后，覆盖范围有限。这些问题导致师生需要反复确认信息，浪费大量时间。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726430" y="243459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655820" y="324802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场景化痛点描述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655820" y="3961765"/>
            <a:ext cx="2853055" cy="27190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例如，早八课前学生奔跑寻找纸质公告，辅导员在多个微信群反复转发通知却仍被追问。这些场景凸显了对一体化数字平台的迫切需求。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544685" y="204152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444865" y="2809875"/>
            <a:ext cx="2853690" cy="7137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界面革新的必要性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444865" y="3523615"/>
            <a:ext cx="2853055" cy="2718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为了终结碎片化通知，界面设计必须兼顾即时触达与易用性，确保信息能够快速、准确地传递给每一位用户。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1">
            <a:alphaModFix amt="56000"/>
          </a:blip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3765" y="918210"/>
            <a:ext cx="1046861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青言速递定位与价值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65" y="1829435"/>
            <a:ext cx="3526790" cy="157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66485" y="2667635"/>
            <a:ext cx="5436870" cy="511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青言速递定位与价值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64580" y="3178810"/>
            <a:ext cx="3796665" cy="300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青言速递定位为全校统一的公告发布与传播基础设施，取代微信群与线下公告栏，成为师生获取权威校园信息的唯一可信入口，提供审核、统计、回溯能力，实现一键多渠道分发与阅读反馈，满足个性化订阅、未读提醒与三秒速览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830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三端一体体验目标量化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31770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71830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移动端目标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29348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移动端三秒完成登录注册并进入首页，确保学生在课间一分钟内完成公告浏览，提升信息获取效率。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980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9865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PC端与平板端目标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997383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PC端一屏展示完整公告列表，平板端横竖屏切换无刷新重排，满足教师在办公室或教室无缝发布通知的需求。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1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36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总体架构与分层设计</a:t>
            </a:r>
            <a:endParaRPr lang="en-US" altLang="zh-CN" sz="28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1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B/S加前后端分离架构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B/S模式优势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采用B/S模式，用户通过浏览器访问系统，无需安装客户端，降低了使用门槛，提高了系统的可访问性和便捷性，同时便于未来接入微信小程序、移动App等多端扩展。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前后端分离优势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前后端分离架构使得前端专注于交互展示，后端专注于业务逻辑处理，数据层独立负责数据持久化，各层职责清晰，便于独立迭代和维护，提升开发效率和系统稳定性。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1757045"/>
            <a:ext cx="12192000" cy="42868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031990" y="885190"/>
            <a:ext cx="4288155" cy="6031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六层逻辑架构拆解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用户层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581660" y="2487930"/>
            <a:ext cx="5175885" cy="14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用户层覆盖学生、教师、管理员三类角色，采用响应式布局适配多端设备，提供统一的交互体验，同时预留微信小程序接口，为未来扩展访问方式提供便利。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581660" y="4140835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网关层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网关层由Nginx承担反向代理、静态资源托管与负载均衡，执行基础安全校验和跨域配置，通过轻量化管理提升系统的性能和安全性。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533515" y="2487930"/>
            <a:ext cx="5176520" cy="1483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应用层以SpringBoot单体聚合六大功能模块，实现高内聚低耦合，通过服务层复用用户与权限数据，保证代码简洁与可维护性，支持高效开发和业务扩展。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6533515" y="4140835"/>
            <a:ext cx="517525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中间件层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中间件层统一认证、缓存、邮件与任务调度，提供JWT身份认证、Redis缓存管理、邮件服务和异步任务调度等功能，保障系统的高效运行和数据安全。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移动端核心界面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17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4895850"/>
            <a:ext cx="8691880" cy="15881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62990" y="3084195"/>
            <a:ext cx="8926830" cy="16637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360" y="1395095"/>
            <a:ext cx="8691880" cy="158813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41020" y="440055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登录页极致轻量化</a:t>
            </a:r>
            <a:endParaRPr lang="en-US" sz="1600" dirty="0"/>
          </a:p>
        </p:txBody>
      </p:sp>
      <p:pic>
        <p:nvPicPr>
          <p:cNvPr id="7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612140"/>
            <a:ext cx="762000" cy="7620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742950"/>
            <a:ext cx="762000" cy="7620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>
            <a:fillRect/>
          </a:stretch>
        </p:blipFill>
        <p:spPr>
          <a:xfrm>
            <a:off x="2296795" y="1903095"/>
            <a:ext cx="688340" cy="691515"/>
          </a:xfrm>
          <a:prstGeom prst="rect">
            <a:avLst/>
          </a:prstGeom>
        </p:spPr>
      </p:pic>
      <p:pic>
        <p:nvPicPr>
          <p:cNvPr id="10" name="Image 7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>
            <a:fillRect/>
          </a:stretch>
        </p:blipFill>
        <p:spPr>
          <a:xfrm>
            <a:off x="9625330" y="3469005"/>
            <a:ext cx="688340" cy="691515"/>
          </a:xfrm>
          <a:prstGeom prst="rect">
            <a:avLst/>
          </a:prstGeom>
        </p:spPr>
      </p:pic>
      <p:pic>
        <p:nvPicPr>
          <p:cNvPr id="11" name="Image 8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5"/>
          <a:srcRect l="275" r="275"/>
          <a:stretch>
            <a:fillRect/>
          </a:stretch>
        </p:blipFill>
        <p:spPr>
          <a:xfrm>
            <a:off x="2210435" y="5386705"/>
            <a:ext cx="688340" cy="691515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2301240" y="19932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2"/>
          <p:cNvSpPr/>
          <p:nvPr/>
        </p:nvSpPr>
        <p:spPr>
          <a:xfrm>
            <a:off x="3457575" y="1551305"/>
            <a:ext cx="7733665" cy="44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极简元素设计</a:t>
            </a:r>
            <a:endParaRPr lang="en-US" sz="1600" dirty="0"/>
          </a:p>
        </p:txBody>
      </p:sp>
      <p:sp>
        <p:nvSpPr>
          <p:cNvPr id="14" name="Text 3"/>
          <p:cNvSpPr/>
          <p:nvPr/>
        </p:nvSpPr>
        <p:spPr>
          <a:xfrm>
            <a:off x="3457575" y="1903095"/>
            <a:ext cx="7795260" cy="11201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 err="1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登录页采用极简设计，输入框仅保留校邮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密码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和验证码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减少用户输入成本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600" dirty="0"/>
          </a:p>
        </p:txBody>
      </p:sp>
      <p:sp>
        <p:nvSpPr>
          <p:cNvPr id="15" name="Text 4"/>
          <p:cNvSpPr/>
          <p:nvPr/>
        </p:nvSpPr>
        <p:spPr>
          <a:xfrm>
            <a:off x="9629775" y="35591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5"/>
          <p:cNvSpPr/>
          <p:nvPr/>
        </p:nvSpPr>
        <p:spPr>
          <a:xfrm>
            <a:off x="1395095" y="3300095"/>
            <a:ext cx="7795260" cy="3632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键盘自动切换</a:t>
            </a:r>
            <a:endParaRPr lang="en-US" sz="1600" dirty="0"/>
          </a:p>
        </p:txBody>
      </p:sp>
      <p:sp>
        <p:nvSpPr>
          <p:cNvPr id="17" name="Text 6"/>
          <p:cNvSpPr/>
          <p:nvPr/>
        </p:nvSpPr>
        <p:spPr>
          <a:xfrm>
            <a:off x="1395095" y="3651885"/>
            <a:ext cx="7795260" cy="1079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输入邮箱时，键盘自动切换邮箱后缀，提高输入效率。同时，忘记密码与注册入口采用弱提示文字，减少干扰。</a:t>
            </a:r>
            <a:endParaRPr lang="en-US" sz="1600" dirty="0"/>
          </a:p>
        </p:txBody>
      </p:sp>
      <p:sp>
        <p:nvSpPr>
          <p:cNvPr id="18" name="Text 7"/>
          <p:cNvSpPr/>
          <p:nvPr/>
        </p:nvSpPr>
        <p:spPr>
          <a:xfrm>
            <a:off x="2214880" y="547687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8"/>
          <p:cNvSpPr/>
          <p:nvPr/>
        </p:nvSpPr>
        <p:spPr>
          <a:xfrm>
            <a:off x="3161665" y="5030470"/>
            <a:ext cx="7794625" cy="366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3161665" y="5382260"/>
            <a:ext cx="7795260" cy="1064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整个页面体积小于250KB，配合JWT无状态认证，实现三秒内完成登录并跳转首页，兼顾性能与安全感。</a:t>
            </a:r>
            <a:endParaRPr lang="en-US" sz="1600" dirty="0"/>
          </a:p>
        </p:txBody>
      </p:sp>
      <p:pic>
        <p:nvPicPr>
          <p:cNvPr id="24" name="图片 23" descr="图形用户界面, 应用程序&#10;&#10;AI 生成的内容可能不正确。"/>
          <p:cNvPicPr>
            <a:picLocks noChangeAspect="1"/>
          </p:cNvPicPr>
          <p:nvPr/>
        </p:nvPicPr>
        <p:blipFill>
          <a:blip r:embed="rId6"/>
          <a:srcRect t="11911" b="7401"/>
          <a:stretch>
            <a:fillRect/>
          </a:stretch>
        </p:blipFill>
        <p:spPr>
          <a:xfrm>
            <a:off x="732155" y="1131362"/>
            <a:ext cx="1539240" cy="2447706"/>
          </a:xfrm>
          <a:prstGeom prst="rect">
            <a:avLst/>
          </a:prstGeom>
        </p:spPr>
      </p:pic>
      <p:pic>
        <p:nvPicPr>
          <p:cNvPr id="26" name="图片 25" descr="图形用户界面, 文本, 应用程序, 聊天或短信&#10;&#10;AI 生成的内容可能不正确。"/>
          <p:cNvPicPr>
            <a:picLocks noChangeAspect="1"/>
          </p:cNvPicPr>
          <p:nvPr/>
        </p:nvPicPr>
        <p:blipFill>
          <a:blip r:embed="rId7"/>
          <a:srcRect t="10834" b="8639"/>
          <a:stretch>
            <a:fillRect/>
          </a:stretch>
        </p:blipFill>
        <p:spPr>
          <a:xfrm>
            <a:off x="10360123" y="1175240"/>
            <a:ext cx="1723292" cy="31210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注册页验证码一体化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980" y="126936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57650" y="2143125"/>
            <a:ext cx="7212965" cy="5765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验证码发送与倒计时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057650" y="2726055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输入校邮后，一键发送按钮进入60秒倒计时，按钮旁实时提示验证码有效期，确保用户清晰了解状态。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4057650" y="4046855"/>
            <a:ext cx="7213600" cy="5257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 err="1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密码</a:t>
            </a:r>
            <a:r>
              <a:rPr lang="zh-CN" alt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格式限制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057650" y="4629785"/>
            <a:ext cx="7212965" cy="11061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当用户注册时的密码格式不满足密码格式限制，会在输入框下进行提示，</a:t>
            </a:r>
            <a:r>
              <a:rPr lang="en-US" sz="1400" dirty="0" err="1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引导用户设置高安全密码，提升账户保护水平</a:t>
            </a: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pic>
        <p:nvPicPr>
          <p:cNvPr id="21" name="图片 20" descr="图形用户界面, 应用程序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831" y="1616982"/>
            <a:ext cx="3323441" cy="509698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23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首页信息层级瞬达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-958850" y="4513580"/>
            <a:ext cx="4178300" cy="5099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4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5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46630" y="2288540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信息优先级布局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首页顶部固定搜索栏与分类筛选，公告卡片采用标题加两行摘要，发布时间、发布人、浏览量三要素一行排列，确保信息一目了然。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568950" y="229552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未读提示设计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未读公告左侧显色条提示，已读置灰避免重复关注，帮助用户快速区分重要信息，提升浏览效率。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852535" y="2315845"/>
            <a:ext cx="251460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流畅加载体验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上拉加载更多由Intersection Observer触发，保证滑动流畅，减少卡顿，为用户提供顺滑的浏览体验。</a:t>
            </a:r>
            <a:endParaRPr lang="en-US" sz="1600" dirty="0"/>
          </a:p>
        </p:txBody>
      </p:sp>
      <p:pic>
        <p:nvPicPr>
          <p:cNvPr id="23" name="图片 22" descr="图形用户界面, 网站&#10;&#10;AI 生成的内容可能不正确。"/>
          <p:cNvPicPr>
            <a:picLocks noChangeAspect="1"/>
          </p:cNvPicPr>
          <p:nvPr/>
        </p:nvPicPr>
        <p:blipFill>
          <a:blip r:embed="rId5"/>
          <a:srcRect t="7759"/>
          <a:stretch>
            <a:fillRect/>
          </a:stretch>
        </p:blipFill>
        <p:spPr>
          <a:xfrm>
            <a:off x="-16009" y="1193074"/>
            <a:ext cx="2200342" cy="449265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响应式Web界面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8011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357620" y="1675765"/>
            <a:ext cx="4953000" cy="44132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断点策略与栅格系统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8226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9055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预设断点适配三端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633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采用Tailwind CSS预设断点，小于640px为移动端单栏卡片流，640px至1024px为平板端侧边抽屉式导航，大于1024px为PC端固定导航栏。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1692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3538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栅格系统优化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116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通过十二列栅格与可伸缩空隙，确保在不同分辨率下保持视觉节奏一致，减少针对性样式代码，提高维护效率。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PC端宽屏信息全景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2"/>
          <a:srcRect l="275" r="27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2"/>
          <a:srcRect l="275" r="275"/>
          <a:stretch>
            <a:fillRect/>
          </a:stretch>
        </p:blipFill>
        <p:spPr>
          <a:xfrm>
            <a:off x="5407660" y="2049779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3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860" y="2232024"/>
            <a:ext cx="1288415" cy="33020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zh-CN" altLang="en-US" sz="1600" dirty="0"/>
              <a:t>简易统计</a:t>
            </a:r>
            <a:endParaRPr lang="en-US" altLang="zh-CN" sz="1600" dirty="0"/>
          </a:p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120140" y="3669665"/>
            <a:ext cx="276161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管理员界面用柱状统计图的方式将近</a:t>
            </a:r>
            <a:r>
              <a:rPr lang="en-US" altLang="zh-CN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</a:t>
            </a:r>
            <a:r>
              <a:rPr lang="zh-CN" alt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天的消息数与发布者数的数据明显的展示出来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5407343" y="2141854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4546509" y="2964133"/>
            <a:ext cx="2805430" cy="7867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视觉整齐设计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4590324" y="3747135"/>
            <a:ext cx="276161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通过CSS Grid实现卡片等高，保证视觉整齐，提升整体界面美观度，为用户提供舒适的视觉体验。</a:t>
            </a:r>
            <a:endParaRPr lang="en-US" sz="1600" dirty="0"/>
          </a:p>
        </p:txBody>
      </p:sp>
      <p:pic>
        <p:nvPicPr>
          <p:cNvPr id="19" name="图片 18" descr="图形用户界面, 应用程序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755" y="1958832"/>
            <a:ext cx="4700452" cy="334459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rcRect l="4" t="11111" r="18329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H5端触控与性能兼顾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9980" y="1235075"/>
            <a:ext cx="2939415" cy="131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22755" y="197675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触控体验优化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722755" y="4004945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性能优化措施</a:t>
            </a:r>
            <a:endParaRPr lang="en-US" sz="1600" dirty="0"/>
          </a:p>
        </p:txBody>
      </p:sp>
      <p:pic>
        <p:nvPicPr>
          <p:cNvPr id="23" name="图片 22" descr="图形用户界面, 应用程序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023" y="-16151"/>
            <a:ext cx="2211342" cy="35063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图片懒加载加骨架屏占位，降低首屏渲染时间；字体采用系统默认减少下载体积，确保快速加载。</a:t>
            </a:r>
            <a:endParaRPr lang="en-US" sz="1600" dirty="0"/>
          </a:p>
        </p:txBody>
      </p:sp>
      <p:pic>
        <p:nvPicPr>
          <p:cNvPr id="21" name="图片 20" descr="图形用户界面, 应用程序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36" y="1689100"/>
            <a:ext cx="2516233" cy="40700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按钮最小尺寸为48px×48px，避免误触；列表滚动使用被动事件监听器，提升流畅度，确保触控操作顺滑。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平板端横竖屏无缝切换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横竖屏自动调整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竖屏模式为单栏卡片流，横屏模式自动扩展为两栏卡片，导航栏变为左侧图标加文字形式，适应不同使用场景。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动态布局调整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通过CSS媒体查询与视口单位动态计算根字号，保证图片与文字比例一致，确保视觉效果不受影响。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状态持久化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切换过程无刷新，状态由Pinia持久化，确保用户操作不因屏幕方向改变而中断，提供连贯的使用体验。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技术实现与优化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Vue3组合式API提速渲染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10-09-16:35:24-d3jn7j0s8jdo4os5dj0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210" y="5626735"/>
            <a:ext cx="2939415" cy="1314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27760" y="2645410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技术选型优势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采用Vue3组合式API与script setup语法，减少样板代码与运行时开销，提升开发效率与性能。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28210" y="2085975"/>
            <a:ext cx="2853690" cy="714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虚拟滚动优化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列表虚拟滚动仅渲染可视区域节点，减少DOM数量，显著提升滚动流畅度，降低卡顿。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328025" y="2777490"/>
            <a:ext cx="2853690" cy="716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精准更新控制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通过v-memo精准控制卡片更新，避免整列表重渲染，进一步优化性能，提升用户体验。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185670"/>
            <a:ext cx="11015345" cy="31927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18375" y="1027430"/>
            <a:ext cx="3193415" cy="5509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容器化部署保障一致呈现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3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84630" y="2601595"/>
            <a:ext cx="426656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资源压缩与缓存策略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484630" y="2987040"/>
            <a:ext cx="3596640" cy="2962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Nginx基础镜像开启gzip与brotli压缩，静态资源哈希命名配合永不过期缓存策略，确保快速加载。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7036435" y="2643505"/>
            <a:ext cx="3860165" cy="343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多阶段构建与错误定位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7036435" y="3023870"/>
            <a:ext cx="3596640" cy="276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使用多阶段构建分离源码编译与运行环境，减小镜像体积；CI自动上传源映射至Sentry，线上报错可精准定位。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128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迭代规划与展望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4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6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8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5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2"/>
          <a:srcRect l="39072" r="39072"/>
          <a:stretch>
            <a:fillRect/>
          </a:stretch>
        </p:blipFill>
        <p:spPr>
          <a:xfrm>
            <a:off x="9038590" y="2217420"/>
            <a:ext cx="2792095" cy="415163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rcRect l="41052" r="41052"/>
          <a:stretch>
            <a:fillRect/>
          </a:stretch>
        </p:blipFill>
        <p:spPr>
          <a:xfrm>
            <a:off x="6208395" y="1775460"/>
            <a:ext cx="2792095" cy="415163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2"/>
          <a:srcRect l="39072" r="39072"/>
          <a:stretch>
            <a:fillRect/>
          </a:stretch>
        </p:blipFill>
        <p:spPr>
          <a:xfrm>
            <a:off x="3331210" y="2214245"/>
            <a:ext cx="2792095" cy="415163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rcRect l="41052" r="41052"/>
          <a:stretch>
            <a:fillRect/>
          </a:stretch>
        </p:blipFill>
        <p:spPr>
          <a:xfrm>
            <a:off x="459740" y="1775460"/>
            <a:ext cx="2792095" cy="415163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56298" y="535305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界面演进与体验共创</a:t>
            </a:r>
            <a:endParaRPr lang="en-US" sz="1600" dirty="0"/>
          </a:p>
        </p:txBody>
      </p:sp>
      <p:sp>
        <p:nvSpPr>
          <p:cNvPr id="7" name="Shape 1"/>
          <p:cNvSpPr/>
          <p:nvPr/>
        </p:nvSpPr>
        <p:spPr>
          <a:xfrm>
            <a:off x="44386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2"/>
          <p:cNvSpPr/>
          <p:nvPr/>
        </p:nvSpPr>
        <p:spPr>
          <a:xfrm>
            <a:off x="44386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3319780" y="203454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4"/>
          <p:cNvSpPr/>
          <p:nvPr/>
        </p:nvSpPr>
        <p:spPr>
          <a:xfrm>
            <a:off x="3319780" y="203454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6208395" y="1605280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2" name="Text 6"/>
          <p:cNvSpPr/>
          <p:nvPr/>
        </p:nvSpPr>
        <p:spPr>
          <a:xfrm>
            <a:off x="6208395" y="1605280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9024620" y="2079625"/>
            <a:ext cx="690245" cy="36957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F5BEE"/>
              </a:gs>
              <a:gs pos="13000">
                <a:srgbClr val="2F5BEE"/>
              </a:gs>
              <a:gs pos="100000">
                <a:srgbClr val="EAEEF4"/>
              </a:gs>
            </a:gsLst>
            <a:lin ang="270000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8"/>
          <p:cNvSpPr/>
          <p:nvPr/>
        </p:nvSpPr>
        <p:spPr>
          <a:xfrm>
            <a:off x="9024620" y="2079625"/>
            <a:ext cx="690245" cy="3695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21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22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4513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582295" y="2214245"/>
            <a:ext cx="24771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暗黑模式适配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11505" y="2829560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计划引入暗黑模式，适配早晚阅读场景，减少眼睛疲劳，提升用户在不同光线下的阅读体验。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3321050" y="198945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3442970" y="265557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可配置看板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3510280" y="327088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上线可配置看板，允许管理员自定义数据卡片布局，满足不同角色的个性化需求，提升管理效率。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6209665" y="156019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323330" y="2200910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主题皮肤接口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390640" y="2816225"/>
            <a:ext cx="2461895" cy="30346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开放主题皮肤接口，支持学院品牌色一键替换，增强平台的个性化与品牌化，提升用户归属感。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025890" y="203454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116695" y="270446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无障碍焦点管理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184005" y="3319780"/>
            <a:ext cx="2461895" cy="29857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接入无障碍焦点管理，为视障用户提供语义化朗读，确保平台的包容性，让每一位用户都能顺畅使用。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 FOR READING！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连铭涛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汇报日期：2025/10/15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20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2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2703</Words>
  <Application>WPS 演示</Application>
  <PresentationFormat>宽屏</PresentationFormat>
  <Paragraphs>298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青言速递多端界面全景秀</dc:title>
  <dc:creator>Kimi</dc:creator>
  <dc:subject>青言速递多端界面全景秀</dc:subject>
  <cp:lastModifiedBy>微信用户</cp:lastModifiedBy>
  <cp:revision>3</cp:revision>
  <dcterms:created xsi:type="dcterms:W3CDTF">2025-10-14T15:29:00Z</dcterms:created>
  <dcterms:modified xsi:type="dcterms:W3CDTF">2025-11-12T06:20:33Z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{"Label":"青言速递多端界面全景秀","ContentProducer":"001191110108MACG2KBH8F10000","ProduceID":"d3n6nh8h947b06h11ih0","ReservedCode1":"","ContentPropagator":"001191110108MACG2KBH8F20000","PropagateID":"d3n6nh8h947b06h11ih0","ReservedCode2":""}</vt:lpwstr>
  </property>
  <property fmtid="{D5CDD505-2E9C-101B-9397-08002B2CF9AE}" pid="3" name="ICV">
    <vt:lpwstr>912D8ACA831F45ECA813BF2E1FF1D96B_13</vt:lpwstr>
  </property>
  <property fmtid="{D5CDD505-2E9C-101B-9397-08002B2CF9AE}" pid="4" name="KSOProductBuildVer">
    <vt:lpwstr>2052-12.1.0.23542</vt:lpwstr>
  </property>
</Properties>
</file>